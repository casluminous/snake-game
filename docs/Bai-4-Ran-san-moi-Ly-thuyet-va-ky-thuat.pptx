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Tốc độ</c:v>
                </c:pt>
              </c:strCache>
            </c:strRef>
          </c:tx>
          <c:spPr>
            <a:solidFill>
              <a:srgbClr val="6EE787"/>
            </a:solidFill>
            <a:ln w="38100" cap="flat">
              <a:solidFill>
                <a:srgbClr val="6EE78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EE787"/>
              </a:solidFill>
              <a:ln w="9525" cap="flat">
                <a:solidFill>
                  <a:srgbClr val="6EE78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</c:v>
                </c:pt>
                <c:pt idx="1">
                  <c:v>7.5</c:v>
                </c:pt>
                <c:pt idx="2">
                  <c:v>9</c:v>
                </c:pt>
                <c:pt idx="3">
                  <c:v>10.5</c:v>
                </c:pt>
                <c:pt idx="4">
                  <c:v>12</c:v>
                </c:pt>
                <c:pt idx="5">
                  <c:v>13.5</c:v>
                </c:pt>
                <c:pt idx="6">
                  <c:v>15</c:v>
                </c:pt>
                <c:pt idx="7">
                  <c:v>16</c:v>
                </c:pt>
                <c:pt idx="8">
                  <c:v>16</c:v>
                </c:pt>
                <c:pt idx="9">
                  <c:v>16</c:v>
                </c:pt>
                <c:pt idx="10">
                  <c:v>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262A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D27"/>
    </a:solidFill>
    <a:ln w="12700" cap="flat">
      <a:solidFill>
        <a:srgbClr val="2B304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sluminous/snake-game" TargetMode="External"/><Relationship Id="rId1" Type="http://schemas.openxmlformats.org/officeDocument/2006/relationships/image" Target="../media/Slide-1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THỰC HÀNH · PYGAME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8686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RẮN SĂN MỒI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cách hoạt động của thuật toán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vài trang kỹ thuật triển khai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1755648" cy="402336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2044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06624" y="3520440"/>
            <a:ext cx="1755648" cy="402336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6624" y="352044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pygame-ce 2.5.8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90288" y="3520440"/>
            <a:ext cx="1755648" cy="402336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352044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Lưới 30 × 24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73952" y="3520440"/>
            <a:ext cx="1755648" cy="402336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352044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github.com/Casluminous/snake-game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41163" y="4878507"/>
            <a:ext cx="283098" cy="283098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0347" y="4878507"/>
            <a:ext cx="283098" cy="283098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99531" y="4878507"/>
            <a:ext cx="283098" cy="283098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8715" y="4878507"/>
            <a:ext cx="283098" cy="283098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7899" y="4878507"/>
            <a:ext cx="283098" cy="283098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87083" y="4878507"/>
            <a:ext cx="283098" cy="283098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16267" y="4878507"/>
            <a:ext cx="283098" cy="283098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16267" y="4549323"/>
            <a:ext cx="283098" cy="283098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16267" y="4220139"/>
            <a:ext cx="283098" cy="283098"/>
          </a:xfrm>
          <a:prstGeom prst="rect">
            <a:avLst/>
          </a:prstGeom>
          <a:solidFill>
            <a:srgbClr val="9DF2B0"/>
          </a:solidFill>
          <a:ln w="6350">
            <a:solidFill>
              <a:srgbClr val="9DF2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04261" y="4908133"/>
            <a:ext cx="223845" cy="223845"/>
          </a:xfrm>
          <a:prstGeom prst="ellipse">
            <a:avLst/>
          </a:prstGeom>
          <a:solidFill>
            <a:srgbClr val="F05A5A"/>
          </a:solidFill>
          <a:ln w="6350">
            <a:solidFill>
              <a:srgbClr val="B23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45174" y="4434108"/>
            <a:ext cx="250180" cy="250180"/>
          </a:xfrm>
          <a:prstGeom prst="diamond">
            <a:avLst/>
          </a:prstGeom>
          <a:solidFill>
            <a:srgbClr val="F7C948"/>
          </a:solidFill>
          <a:ln w="6350">
            <a:solidFill>
              <a:srgbClr val="C79B2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Luật chơi — 4 quy tắc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1965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82296" cy="1965960"/>
          </a:xfrm>
          <a:prstGeom prst="rect">
            <a:avLst/>
          </a:prstGeom>
          <a:solidFill>
            <a:srgbClr val="6EE787"/>
          </a:solidFill>
          <a:ln w="12700">
            <a:solidFill>
              <a:srgbClr val="6EE7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92808"/>
            <a:ext cx="777240" cy="777240"/>
          </a:xfrm>
          <a:prstGeom prst="ellipse">
            <a:avLst/>
          </a:prstGeom>
          <a:solidFill>
            <a:srgbClr val="202430"/>
          </a:solidFill>
          <a:ln w="19050">
            <a:solidFill>
              <a:srgbClr val="6EE7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928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7452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mồi → dài ra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74520" y="2468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Mồi đỏ +1 điểm, thân dài thêm đúng 1 đốt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40680" cy="1965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00200"/>
            <a:ext cx="82296" cy="196596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892808"/>
            <a:ext cx="777240" cy="777240"/>
          </a:xfrm>
          <a:prstGeom prst="ellipse">
            <a:avLst/>
          </a:prstGeom>
          <a:solidFill>
            <a:srgbClr val="202430"/>
          </a:solidFill>
          <a:ln w="19050">
            <a:solidFill>
              <a:srgbClr val="F7C9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8928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mồi → nhanh hơn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0" y="2468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+1,5 bước/giây sau mỗi 5 mồi, trần 16 bước/giây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440680" cy="1965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40480"/>
            <a:ext cx="82296" cy="196596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33088"/>
            <a:ext cx="777240" cy="777240"/>
          </a:xfrm>
          <a:prstGeom prst="ellipse">
            <a:avLst/>
          </a:prstGeom>
          <a:solidFill>
            <a:srgbClr val="202430"/>
          </a:solidFill>
          <a:ln w="19050">
            <a:solidFill>
              <a:srgbClr val="F7C9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33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7452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Mồi vàng: 5 giây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874520" y="47091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hiện ngẫu nhiên, hết 5 giây tự biến mất, ăn được +5 điểm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3840480"/>
            <a:ext cx="5440680" cy="1965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840480"/>
            <a:ext cx="82296" cy="1965960"/>
          </a:xfrm>
          <a:prstGeom prst="rect">
            <a:avLst/>
          </a:prstGeom>
          <a:solidFill>
            <a:srgbClr val="F05A5A"/>
          </a:solidFill>
          <a:ln w="12700">
            <a:solidFill>
              <a:srgbClr val="F05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133088"/>
            <a:ext cx="777240" cy="777240"/>
          </a:xfrm>
          <a:prstGeom prst="ellipse">
            <a:avLst/>
          </a:prstGeom>
          <a:solidFill>
            <a:srgbClr val="202430"/>
          </a:solidFill>
          <a:ln w="19050">
            <a:solidFill>
              <a:srgbClr val="F05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133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tường / thân → thua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498080" y="47091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— R chơi lại, Esc thoát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Mọi thứ quy về ô lưới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608576" cy="2688336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9616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3664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7712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35808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87952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1828800"/>
            <a:ext cx="0" cy="2688336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212848"/>
            <a:ext cx="4608576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596896"/>
            <a:ext cx="4608576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980944"/>
            <a:ext cx="4608576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364992"/>
            <a:ext cx="4608576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749040"/>
            <a:ext cx="4608576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133088"/>
            <a:ext cx="4608576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26499" y="3007827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0547" y="3007827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4595" y="3007827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94595" y="3391875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94595" y="3775923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78643" y="3775923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62691" y="3775923"/>
            <a:ext cx="330281" cy="330281"/>
          </a:xfrm>
          <a:prstGeom prst="rect">
            <a:avLst/>
          </a:prstGeom>
          <a:solidFill>
            <a:srgbClr val="9DF2B0"/>
          </a:solidFill>
          <a:ln w="6350">
            <a:solidFill>
              <a:srgbClr val="9DF2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5352" y="2658344"/>
            <a:ext cx="261153" cy="261153"/>
          </a:xfrm>
          <a:prstGeom prst="ellipse">
            <a:avLst/>
          </a:prstGeom>
          <a:solidFill>
            <a:srgbClr val="F05A5A"/>
          </a:solidFill>
          <a:ln w="6350">
            <a:solidFill>
              <a:srgbClr val="B23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34038" y="3411078"/>
            <a:ext cx="291876" cy="291876"/>
          </a:xfrm>
          <a:prstGeom prst="diamond">
            <a:avLst/>
          </a:prstGeom>
          <a:solidFill>
            <a:srgbClr val="F7C948"/>
          </a:solidFill>
          <a:ln w="6350">
            <a:solidFill>
              <a:srgbClr val="C79B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27832" y="3518611"/>
            <a:ext cx="0" cy="1005840"/>
          </a:xfrm>
          <a:prstGeom prst="line">
            <a:avLst/>
          </a:prstGeom>
          <a:noFill/>
          <a:ln w="12700">
            <a:solidFill>
              <a:srgbClr val="F7C94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093415" y="311536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đầu (6, 5)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4626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cột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77256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hàng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0" y="173736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Lưới 30 × 24 ô, ô 20 px — toạ độ nguyên (x, y)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bước: đầu + hướng = ô kế tiếp, cách đúng 1 ô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chạm = kiểm tra ô kế tiếp có thuộc tập ô của thân không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Vẽ: pixel = ô × 20, cộng 40 px thanh HUD phía trên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7223760" y="4892040"/>
            <a:ext cx="4389120" cy="868680"/>
          </a:xfrm>
          <a:prstGeom prst="rect">
            <a:avLst/>
          </a:prstGeom>
          <a:solidFill>
            <a:srgbClr val="232634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5001768"/>
            <a:ext cx="4023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600 × 520 px — trên lưới 720 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Rắn = deque các toạ độ 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63040" y="2286000"/>
            <a:ext cx="566928" cy="566928"/>
          </a:xfrm>
          <a:prstGeom prst="rect">
            <a:avLst/>
          </a:prstGeom>
          <a:solidFill>
            <a:srgbClr val="9DF2B0"/>
          </a:solidFill>
          <a:ln w="12700">
            <a:solidFill>
              <a:srgbClr val="2E8C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9696" y="2286000"/>
            <a:ext cx="566928" cy="566928"/>
          </a:xfrm>
          <a:prstGeom prst="rect">
            <a:avLst/>
          </a:prstGeom>
          <a:solidFill>
            <a:srgbClr val="6EE787"/>
          </a:solidFill>
          <a:ln w="12700">
            <a:solidFill>
              <a:srgbClr val="2E8C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2286000"/>
            <a:ext cx="566928" cy="566928"/>
          </a:xfrm>
          <a:prstGeom prst="rect">
            <a:avLst/>
          </a:prstGeom>
          <a:solidFill>
            <a:srgbClr val="6EE787"/>
          </a:solidFill>
          <a:ln w="12700">
            <a:solidFill>
              <a:srgbClr val="2E8C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3008" y="2286000"/>
            <a:ext cx="566928" cy="566928"/>
          </a:xfrm>
          <a:prstGeom prst="rect">
            <a:avLst/>
          </a:prstGeom>
          <a:solidFill>
            <a:srgbClr val="6EE787"/>
          </a:solidFill>
          <a:ln w="12700">
            <a:solidFill>
              <a:srgbClr val="2E8C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9664" y="2286000"/>
            <a:ext cx="566928" cy="566928"/>
          </a:xfrm>
          <a:prstGeom prst="rect">
            <a:avLst/>
          </a:prstGeom>
          <a:solidFill>
            <a:srgbClr val="6EE787"/>
          </a:solidFill>
          <a:ln w="12700">
            <a:solidFill>
              <a:srgbClr val="2E8C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86000"/>
            <a:ext cx="566928" cy="566928"/>
          </a:xfrm>
          <a:prstGeom prst="rect">
            <a:avLst/>
          </a:prstGeom>
          <a:solidFill>
            <a:srgbClr val="6EE787"/>
          </a:solidFill>
          <a:ln w="12700">
            <a:solidFill>
              <a:srgbClr val="2E8C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· index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51683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thân 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đuôi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69464"/>
            <a:ext cx="960120" cy="0"/>
          </a:xfrm>
          <a:prstGeom prst="line">
            <a:avLst/>
          </a:prstGeom>
          <a:noFill/>
          <a:ln w="31750">
            <a:solidFill>
              <a:srgbClr val="F7C94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286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appendleft(đầu mới) · O(1)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32704" y="2569464"/>
            <a:ext cx="914400" cy="0"/>
          </a:xfrm>
          <a:prstGeom prst="line">
            <a:avLst/>
          </a:prstGeom>
          <a:noFill/>
          <a:ln w="31750">
            <a:solidFill>
              <a:srgbClr val="F05A5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541264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đuôi · O(1)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343400"/>
            <a:ext cx="6309360" cy="1234440"/>
          </a:xfrm>
          <a:prstGeom prst="rect">
            <a:avLst/>
          </a:prstGeom>
          <a:solidFill>
            <a:srgbClr val="232634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453128"/>
            <a:ext cx="5943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mồi = bỏ qua pop() ⇒ dài thêm đúng 1 đốt. Không ăn thì đuôi rời đi — rắn trượt tới trước.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52360" y="1737360"/>
            <a:ext cx="4160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deque: appendleft / pop đều O(1)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chèn-xoá đầu tốn O(n) — không dùng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phần tử chỉ là cặp số nguyên (x, y)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 hướng đi riêng, tối đa 2 phần tử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Thuật toán một bước — step()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30352" cy="530352"/>
          </a:xfrm>
          <a:prstGeom prst="ellipse">
            <a:avLst/>
          </a:prstGeom>
          <a:solidFill>
            <a:srgbClr val="202430"/>
          </a:solidFill>
          <a:ln w="19050">
            <a:solidFill>
              <a:srgbClr val="6EE7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 hạn mồi vàng?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≥ deadline → xoá mồi vàng khỏi bàn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" y="2139696"/>
            <a:ext cx="0" cy="329184"/>
          </a:xfrm>
          <a:prstGeom prst="line">
            <a:avLst/>
          </a:prstGeom>
          <a:noFill/>
          <a:ln w="19050">
            <a:solidFill>
              <a:srgbClr val="2B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505456"/>
            <a:ext cx="530352" cy="530352"/>
          </a:xfrm>
          <a:prstGeom prst="ellipse">
            <a:avLst/>
          </a:prstGeom>
          <a:solidFill>
            <a:srgbClr val="202430"/>
          </a:solidFill>
          <a:ln w="19050">
            <a:solidFill>
              <a:srgbClr val="6EE7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05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4688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hướng đi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25880" y="283464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1 hướng từ hàng đợi, bỏ hướng ngược 180°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9536" y="3072384"/>
            <a:ext cx="0" cy="329184"/>
          </a:xfrm>
          <a:prstGeom prst="line">
            <a:avLst/>
          </a:prstGeom>
          <a:noFill/>
          <a:ln w="19050">
            <a:solidFill>
              <a:srgbClr val="2B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438144"/>
            <a:ext cx="530352" cy="530352"/>
          </a:xfrm>
          <a:prstGeom prst="ellipse">
            <a:avLst/>
          </a:prstGeom>
          <a:solidFill>
            <a:srgbClr val="202430"/>
          </a:solidFill>
          <a:ln w="19050">
            <a:solidFill>
              <a:srgbClr val="6EE7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381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4015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ô đầu mới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25880" y="37673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mới = đầu + vector hướng (1 ô)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9536" y="4005072"/>
            <a:ext cx="0" cy="329184"/>
          </a:xfrm>
          <a:prstGeom prst="line">
            <a:avLst/>
          </a:prstGeom>
          <a:noFill/>
          <a:ln w="19050">
            <a:solidFill>
              <a:srgbClr val="2B3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370832"/>
            <a:ext cx="530352" cy="530352"/>
          </a:xfrm>
          <a:prstGeom prst="ellipse">
            <a:avLst/>
          </a:prstGeom>
          <a:solidFill>
            <a:srgbClr val="202430"/>
          </a:solidFill>
          <a:ln w="19050">
            <a:solidFill>
              <a:srgbClr val="F05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70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3342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va chạm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25880" y="470001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ngoài lưới hoặc trúng thân → game over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9536" y="4937760"/>
            <a:ext cx="0" cy="329184"/>
          </a:xfrm>
          <a:prstGeom prst="line">
            <a:avLst/>
          </a:prstGeom>
          <a:noFill/>
          <a:ln w="19050">
            <a:solidFill>
              <a:srgbClr val="2B3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5303520"/>
            <a:ext cx="530352" cy="530352"/>
          </a:xfrm>
          <a:prstGeom prst="ellipse">
            <a:avLst/>
          </a:prstGeom>
          <a:solidFill>
            <a:srgbClr val="202430"/>
          </a:solidFill>
          <a:ln w="19050">
            <a:solidFill>
              <a:srgbClr val="6EE7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303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52669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trạng thái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25880" y="563270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đầu mới, cắt đuôi, cộng điểm, đủ 5 mồi thì tăng tốc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01000" y="1783080"/>
            <a:ext cx="3566160" cy="2286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1783080"/>
            <a:ext cx="3566160" cy="7315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tick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275320" y="2514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ô lưới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1000 / speed mili-giây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166,7 ms khi mới bắt đầu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001000" y="4343400"/>
            <a:ext cx="3566160" cy="1051560"/>
          </a:xfrm>
          <a:prstGeom prst="rect">
            <a:avLst/>
          </a:prstGeom>
          <a:solidFill>
            <a:srgbClr val="232634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4453128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step() chỉ chạy đúng một lần mỗi chu kỳ, không phụ thuộc số khung hình vẽ.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Nhịp thời gian — bộ tích luỹ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1097280" cy="566928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16,7 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783080"/>
            <a:ext cx="1097280" cy="566928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783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16,7 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1097280" cy="566928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83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16,7 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1097280" cy="566928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83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16,7 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783080"/>
            <a:ext cx="1097280" cy="566928"/>
          </a:xfrm>
          <a:prstGeom prst="rect">
            <a:avLst/>
          </a:prstGeom>
          <a:solidFill>
            <a:srgbClr val="20243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783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16,7 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hình vẽ (60 FPS)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7040880" cy="50292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063240"/>
            <a:ext cx="4709160" cy="502920"/>
          </a:xfrm>
          <a:prstGeom prst="rect">
            <a:avLst/>
          </a:prstGeom>
          <a:solidFill>
            <a:srgbClr val="6EE787"/>
          </a:solidFill>
          <a:ln w="12700">
            <a:solidFill>
              <a:srgbClr val="6EE7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926080"/>
            <a:ext cx="0" cy="777240"/>
          </a:xfrm>
          <a:prstGeom prst="line">
            <a:avLst/>
          </a:prstGeom>
          <a:noFill/>
          <a:ln w="31750">
            <a:solidFill>
              <a:srgbClr val="F7C94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6012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+= dt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1000 / speed → step()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251960"/>
            <a:ext cx="7040880" cy="132588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416552"/>
            <a:ext cx="65836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acc &gt;= 1000 / speed: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 -= 1000 / speed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step()   # rắn bước đúng 1 ô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66760" y="178308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chỉ để vẽ mượt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chạy theo speed: 6 → 16 bước/giây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yếu hay mạnh, tốc độ rắn vẫn đúng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Ăn mồi — dài ra như thế nào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2286000" cy="182880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965960"/>
            <a:ext cx="0" cy="182880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965960"/>
            <a:ext cx="0" cy="182880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965960"/>
            <a:ext cx="0" cy="182880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965960"/>
            <a:ext cx="0" cy="182880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423160"/>
            <a:ext cx="228600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80360"/>
            <a:ext cx="228600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337560"/>
            <a:ext cx="228600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0684" y="2912364"/>
            <a:ext cx="393192" cy="393192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2912364"/>
            <a:ext cx="393192" cy="393192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5084" y="2912364"/>
            <a:ext cx="393192" cy="393192"/>
          </a:xfrm>
          <a:prstGeom prst="rect">
            <a:avLst/>
          </a:prstGeom>
          <a:solidFill>
            <a:srgbClr val="9DF2B0"/>
          </a:solidFill>
          <a:ln w="6350">
            <a:solidFill>
              <a:srgbClr val="9DF2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13432" y="2953512"/>
            <a:ext cx="310896" cy="310896"/>
          </a:xfrm>
          <a:prstGeom prst="ellipse">
            <a:avLst/>
          </a:prstGeom>
          <a:solidFill>
            <a:srgbClr val="F05A5A"/>
          </a:solidFill>
          <a:ln w="6350">
            <a:solidFill>
              <a:srgbClr val="B23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7C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2976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1965960"/>
            <a:ext cx="2286000" cy="182880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965960"/>
            <a:ext cx="0" cy="182880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1965960"/>
            <a:ext cx="0" cy="182880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965960"/>
            <a:ext cx="0" cy="182880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965960"/>
            <a:ext cx="0" cy="182880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2423160"/>
            <a:ext cx="228600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880360"/>
            <a:ext cx="228600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3337560"/>
            <a:ext cx="228600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29684" y="2912364"/>
            <a:ext cx="393192" cy="393192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6884" y="2912364"/>
            <a:ext cx="393192" cy="393192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44084" y="2912364"/>
            <a:ext cx="393192" cy="393192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01284" y="2912364"/>
            <a:ext cx="393192" cy="393192"/>
          </a:xfrm>
          <a:prstGeom prst="rect">
            <a:avLst/>
          </a:prstGeom>
          <a:solidFill>
            <a:srgbClr val="9DF2B0"/>
          </a:solidFill>
          <a:ln w="6350">
            <a:solidFill>
              <a:srgbClr val="9DF2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9632" y="2039112"/>
            <a:ext cx="310896" cy="310896"/>
          </a:xfrm>
          <a:prstGeom prst="ellipse">
            <a:avLst/>
          </a:prstGeom>
          <a:solidFill>
            <a:srgbClr val="F05A5A"/>
          </a:solidFill>
          <a:ln w="6350">
            <a:solidFill>
              <a:srgbClr val="B2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appendleft(đầu mới)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pop() → đuôi giữ nguyên, +1 đốt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97680" y="4389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điểm · sinh mồi mới ở ô trống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95360" y="1737360"/>
            <a:ext cx="2971800" cy="260604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1737360"/>
            <a:ext cx="2971800" cy="73152"/>
          </a:xfrm>
          <a:prstGeom prst="rect">
            <a:avLst/>
          </a:prstGeom>
          <a:solidFill>
            <a:srgbClr val="6EE787"/>
          </a:solidFill>
          <a:ln w="12700">
            <a:solidFill>
              <a:srgbClr val="6EE7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19659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bước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thao tác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vòng lặp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8595360" y="4572000"/>
            <a:ext cx="2971800" cy="1143000"/>
          </a:xfrm>
          <a:prstGeom prst="rect">
            <a:avLst/>
          </a:prstGeom>
          <a:solidFill>
            <a:srgbClr val="232634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4681728"/>
            <a:ext cx="2606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Mồi vàng +5 điểm nhưng không dài — phần thưởng hiếm, khác mồi thường.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chạm — 3 tình huống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920240" cy="192024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5336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9384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32888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16936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300984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85032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171" y="2943819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72219" y="2943819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56267" y="2943819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0315" y="2943819"/>
            <a:ext cx="330281" cy="330281"/>
          </a:xfrm>
          <a:prstGeom prst="rect">
            <a:avLst/>
          </a:prstGeom>
          <a:solidFill>
            <a:srgbClr val="9DF2B0"/>
          </a:solidFill>
          <a:ln w="6350">
            <a:solidFill>
              <a:srgbClr val="9DF2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77240" y="4233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ngoài tường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∉ [0, 30) hoặc y ∉ [0, 24)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77640" y="2148840"/>
            <a:ext cx="1920240" cy="192024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61688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5736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9784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2532888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77640" y="2916936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3300984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3685032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8571" y="2559771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2619" y="2559771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56667" y="2559771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40715" y="2559771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40715" y="2943819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40715" y="3327867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56667" y="3327867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2619" y="3327867"/>
            <a:ext cx="330281" cy="330281"/>
          </a:xfrm>
          <a:prstGeom prst="rect">
            <a:avLst/>
          </a:prstGeom>
          <a:solidFill>
            <a:srgbClr val="9DF2B0"/>
          </a:solidFill>
          <a:ln w="6350">
            <a:solidFill>
              <a:srgbClr val="9DF2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0056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977640" y="4233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Đâm vào thân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97764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ô kế tiếp ∈ thân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78040" y="2148840"/>
            <a:ext cx="1920240" cy="192024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62088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46136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30184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14232" y="2148840"/>
            <a:ext cx="0" cy="192024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78040" y="2532888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78040" y="2916936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78040" y="3300984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78040" y="3685032"/>
            <a:ext cx="1920240" cy="0"/>
          </a:xfrm>
          <a:prstGeom prst="line">
            <a:avLst/>
          </a:prstGeom>
          <a:noFill/>
          <a:ln w="6350">
            <a:solidFill>
              <a:srgbClr val="2226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04923" y="2559771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88971" y="2559771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04923" y="2943819"/>
            <a:ext cx="330281" cy="330281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88971" y="2943819"/>
            <a:ext cx="330281" cy="330281"/>
          </a:xfrm>
          <a:prstGeom prst="rect">
            <a:avLst/>
          </a:prstGeom>
          <a:solidFill>
            <a:srgbClr val="9DF2B0"/>
          </a:solidFill>
          <a:ln w="6350">
            <a:solidFill>
              <a:srgbClr val="9DF2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04481" y="3108960"/>
            <a:ext cx="230429" cy="0"/>
          </a:xfrm>
          <a:prstGeom prst="line">
            <a:avLst/>
          </a:prstGeom>
          <a:noFill/>
          <a:ln w="31750">
            <a:solidFill>
              <a:srgbClr val="F7C948"/>
            </a:solidFill>
            <a:prstDash val="solid"/>
            <a:headEnd type="triangle"/>
          </a:ln>
        </p:spPr>
      </p:sp>
      <p:sp>
        <p:nvSpPr>
          <p:cNvPr id="56" name="Text 54"/>
          <p:cNvSpPr/>
          <p:nvPr/>
        </p:nvSpPr>
        <p:spPr>
          <a:xfrm>
            <a:off x="717804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Bước vào ô đuôi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17804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lệ — đuôi rời cùng bước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241280" y="2148840"/>
            <a:ext cx="1371600" cy="1920240"/>
          </a:xfrm>
          <a:prstGeom prst="rect">
            <a:avLst/>
          </a:prstGeom>
          <a:solidFill>
            <a:srgbClr val="232634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24160" y="2258568"/>
            <a:ext cx="10058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Thân bỏ đốt cuối khi kiểm tra (nếu không dài ra)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77240" y="5349240"/>
            <a:ext cx="1083564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349240"/>
            <a:ext cx="73152" cy="77724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156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va chạm chạy TRƯỚC khi di chuyển — thua thì dừng ngay, không vẽ bước đi.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Mồi vàng — hẹn giờ 5 giây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7680960" cy="146304"/>
          </a:xfrm>
          <a:prstGeom prst="rect">
            <a:avLst/>
          </a:prstGeom>
          <a:solidFill>
            <a:srgbClr val="2B3040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77440"/>
            <a:ext cx="7680960" cy="146304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322576"/>
            <a:ext cx="256032" cy="256032"/>
          </a:xfrm>
          <a:prstGeom prst="ellipse">
            <a:avLst/>
          </a:prstGeom>
          <a:solidFill>
            <a:srgbClr val="6EE787"/>
          </a:solidFill>
          <a:ln w="12700">
            <a:solidFill>
              <a:srgbClr val="6EE7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39912" y="2322576"/>
            <a:ext cx="256032" cy="256032"/>
          </a:xfrm>
          <a:prstGeom prst="ellipse">
            <a:avLst/>
          </a:prstGeom>
          <a:solidFill>
            <a:srgbClr val="F05A5A"/>
          </a:solidFill>
          <a:ln w="12700">
            <a:solidFill>
              <a:srgbClr val="F05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spawn(now)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 = now + 5000 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2044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mồi vàng tồn tại trên bàn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62856" y="2286000"/>
            <a:ext cx="329184" cy="329184"/>
          </a:xfrm>
          <a:prstGeom prst="diamond">
            <a:avLst/>
          </a:prstGeom>
          <a:solidFill>
            <a:srgbClr val="F7C948"/>
          </a:solidFill>
          <a:ln w="12700">
            <a:solidFill>
              <a:srgbClr val="C79B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657600"/>
            <a:ext cx="7680960" cy="77724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657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Điểm: 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657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Mồi vàng: 3,2s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3913632"/>
            <a:ext cx="2834640" cy="256032"/>
          </a:xfrm>
          <a:prstGeom prst="rect">
            <a:avLst/>
          </a:prstGeom>
          <a:solidFill>
            <a:srgbClr val="202430"/>
          </a:solidFill>
          <a:ln w="9525">
            <a:solidFill>
              <a:srgbClr val="939B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48072" y="3941064"/>
            <a:ext cx="1783080" cy="201168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đếm ngược theo deadline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15400" y="1783080"/>
            <a:ext cx="2743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1,5 % mỗi bước: sinh mồi vàng khi bàn chưa có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tuyệt đối — không đếm frame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 hạn ở đầu step() → biến mất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đúng lúc: +5 điểm, không dài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Tăng tốc — cứ 5 mồi một lần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91640"/>
          <a:ext cx="7680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mồi đã ăn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/ giây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95360" y="1737360"/>
            <a:ext cx="2971800" cy="123444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EE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→ 16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823960" y="2395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bước/giây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95360" y="3154680"/>
            <a:ext cx="2971800" cy="1234440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96528" y="32461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C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166,7 → 62,5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8823960" y="3813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mỗi bước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4617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eaten % 5 == 0 → speed += 1,5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= min(speed, 16)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Điều khiển — chặn lỗi kinh điển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95728" y="1691640"/>
            <a:ext cx="566928" cy="566928"/>
          </a:xfrm>
          <a:prstGeom prst="rect">
            <a:avLst/>
          </a:prstGeom>
          <a:solidFill>
            <a:srgbClr val="202430"/>
          </a:solidFill>
          <a:ln w="15875">
            <a:solidFill>
              <a:srgbClr val="2B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737360" y="2331720"/>
            <a:ext cx="566928" cy="566928"/>
          </a:xfrm>
          <a:prstGeom prst="rect">
            <a:avLst/>
          </a:prstGeom>
          <a:solidFill>
            <a:srgbClr val="202430"/>
          </a:solidFill>
          <a:ln w="15875">
            <a:solidFill>
              <a:srgbClr val="2B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95728" y="2331720"/>
            <a:ext cx="566928" cy="566928"/>
          </a:xfrm>
          <a:prstGeom prst="rect">
            <a:avLst/>
          </a:prstGeom>
          <a:solidFill>
            <a:srgbClr val="202430"/>
          </a:solidFill>
          <a:ln w="15875">
            <a:solidFill>
              <a:srgbClr val="2B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054096" y="2331720"/>
            <a:ext cx="566928" cy="566928"/>
          </a:xfrm>
          <a:prstGeom prst="rect">
            <a:avLst/>
          </a:prstGeom>
          <a:solidFill>
            <a:srgbClr val="202430"/>
          </a:solidFill>
          <a:ln w="15875">
            <a:solidFill>
              <a:srgbClr val="2B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mũi tên hoặc WASD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 hướng (tối đa 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160520"/>
            <a:ext cx="822960" cy="548640"/>
          </a:xfrm>
          <a:prstGeom prst="rect">
            <a:avLst/>
          </a:prstGeom>
          <a:solidFill>
            <a:srgbClr val="202430"/>
          </a:solidFill>
          <a:ln w="19050">
            <a:solidFill>
              <a:srgbClr val="6EE7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60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828800" y="4160520"/>
            <a:ext cx="822960" cy="548640"/>
          </a:xfrm>
          <a:prstGeom prst="rect">
            <a:avLst/>
          </a:prstGeom>
          <a:solidFill>
            <a:srgbClr val="202430"/>
          </a:solidFill>
          <a:ln w="15875">
            <a:solidFill>
              <a:srgbClr val="2B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160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88036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tick lấy ra 1 hướng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9440" y="1737360"/>
            <a:ext cx="4663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Cấm quay đầu 180°: hướng mới + hướng cũ = (0, 0) → bỏ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dồn 2 phím trong 1 tick: hàng đợi giữ lại, áp dụng dần từng bước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vậy không có cú « chết oan » nào do bấm nhanh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tạm dừng · R chơi lại · Esc thoát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68680" y="5074920"/>
            <a:ext cx="5486400" cy="96012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239512"/>
            <a:ext cx="5029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 != dir and (d[0]+dir[0], d[1]+dir[1]) != (0, 0):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 = 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Kiểm thử — 9 kịch bản tự động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6152" y="175564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Rắn di chuyển theo lưới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645920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175564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Mồi thường +1 điểm, +1 đốt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9016" y="1645920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50808" y="175564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Mồi vàng +5 điểm, không dài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2852928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6152" y="296265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Mồi vàng hết hạn 5 giây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61688" y="2852928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83480" y="296265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5 mồi → tăng tốc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9016" y="2852928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750808" y="296265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Đâm tường →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4059936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6152" y="416966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Đâm thân → game over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61688" y="4059936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83480" y="416966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vào ô đuôi hợp lệ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29016" y="4059936"/>
            <a:ext cx="3584448" cy="1024128"/>
          </a:xfrm>
          <a:prstGeom prst="rect">
            <a:avLst/>
          </a:prstGeom>
          <a:solidFill>
            <a:srgbClr val="1A1D27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750808" y="416966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quay đầu 180°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440680"/>
            <a:ext cx="10972800" cy="731520"/>
          </a:xfrm>
          <a:prstGeom prst="rect">
            <a:avLst/>
          </a:prstGeom>
          <a:solidFill>
            <a:srgbClr val="202430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snake.py --selftest</a:t>
            </a:r>
            <a:pPr indent="0" marL="0">
              <a:buNone/>
            </a:pPr>
            <a:r>
              <a:rPr lang="en-US" sz="15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Selftest OK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Kỹ thuật 1 — Fixed timestep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60 FPS nhưng logic chỉ chạy 6–16 lần/giây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cộng dồn dt; đủ 1000/speed ms thì mới step()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khung hình có thể dồn thành 1 bước; máy chậm không làm rắn chậm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(không phải if) để bù kịp nhiều bước khi khung hình dài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486400" cy="260604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947672"/>
            <a:ext cx="502920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mỗi khung hình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 = clock.tick(60)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+= dt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 = 1000 / speed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acc &gt;= interval: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 -= interval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4846320"/>
            <a:ext cx="5486400" cy="914400"/>
          </a:xfrm>
          <a:prstGeom prst="rect">
            <a:avLst/>
          </a:prstGeom>
          <a:solidFill>
            <a:srgbClr val="232634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495604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sao: FPS là nhịp vẽ, không phải nhịp chơi. Tách hai thứ này thì tốc độ rắn độc lập với phần cứng.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Kỹ thuật 2 — Deadline thay vì đếm frame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2651760"/>
          </a:xfrm>
          <a:prstGeom prst="rect">
            <a:avLst/>
          </a:prstGeom>
          <a:solidFill>
            <a:srgbClr val="2A1B1D"/>
          </a:solidFill>
          <a:ln w="12700">
            <a:solidFill>
              <a:srgbClr val="7A3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Đếm frame (sai)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giây = 300 frame — chỉ đúng khi FPS không đổi. Máy lag hoặc tăng tốc độ là lệch ngay.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B9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frames &gt; 300: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B9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remove_special()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2651760"/>
          </a:xfrm>
          <a:prstGeom prst="rect">
            <a:avLst/>
          </a:prstGeom>
          <a:solidFill>
            <a:srgbClr val="16281C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Mốc thời gian tuyệt đối (đúng)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mồi: ghi deadline = now + 5000. Mỗi bước chỉ so now ≥ deadline — FPS nào cũng đúng 5 giây.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31546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 = now + 5000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now &gt;= deadline: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remove_special()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68680"/>
          </a:xfrm>
          <a:prstGeom prst="rect">
            <a:avLst/>
          </a:prstGeom>
          <a:solidFill>
            <a:srgbClr val="232634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001768"/>
            <a:ext cx="10698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mốc get_ticks() còn dùng cho HUD đếm ngược: remain = deadline − now → vẽ thanh thời gian.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301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RẮN SĂN MỒI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Kỹ thuật 3 — Test headless &amp; tất định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SDL_VIDEODRIVER=dummy → chạy không cần cửa sổ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random.seed cố định + tắt spawn ngẫu nhiên mồi vàng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thế cờ trực tiếp rồi assert từng luật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lặp lại được — chạy được trong CI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278892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47672"/>
            <a:ext cx="493776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os.environ['SDL_VIDEODRIVER'] = 'dummy'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SPECIAL_SPAWN_CHANCE = 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random.seed(7)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g.snake = deque([(4,4), (3,4), (3,5), (4,5)])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g.dir = (-1, 0)   # đâm vào thân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g.update(1000)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g.game_over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5257800"/>
            <a:ext cx="5394960" cy="777240"/>
          </a:xfrm>
          <a:prstGeom prst="rect">
            <a:avLst/>
          </a:prstGeom>
          <a:solidFill>
            <a:srgbClr val="232634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367528"/>
            <a:ext cx="5029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snake.py --selftest — 9 nhóm kiểm tra, không cần màn hình.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4 · PYGAME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Chạy thử?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mã nguồn, README và bộ tự kiểm tra nằm trong repo:</a:t>
            </a:r>
            <a:endParaRPr lang="en-US" sz="1600" dirty="0"/>
          </a:p>
        </p:txBody>
      </p:sp>
      <p:sp>
        <p:nvSpPr>
          <p:cNvPr id="5" name="Text 3">
            <a:hlinkClick r:id="rId2" tooltip=""/>
          </p:cNvPr>
          <p:cNvSpPr/>
          <p:nvPr/>
        </p:nvSpPr>
        <p:spPr>
          <a:xfrm>
            <a:off x="822960" y="2926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github.com/Casluminous/snake-game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6949440" cy="1691640"/>
          </a:xfrm>
          <a:prstGeom prst="rect">
            <a:avLst/>
          </a:prstGeom>
          <a:solidFill>
            <a:srgbClr val="0F1119"/>
          </a:solidFill>
          <a:ln w="12700">
            <a:solidFill>
              <a:srgbClr val="2B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959352"/>
            <a:ext cx="64922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pygame        # Python 3.14: pygame-ce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snake.py           # mở cửa sổ game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snake.py --selftest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10 /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29523" y="4597603"/>
            <a:ext cx="314554" cy="314554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5283" y="4597603"/>
            <a:ext cx="314554" cy="314554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61043" y="4597603"/>
            <a:ext cx="314554" cy="314554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26803" y="4597603"/>
            <a:ext cx="314554" cy="314554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26803" y="4231843"/>
            <a:ext cx="314554" cy="314554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92563" y="4231843"/>
            <a:ext cx="314554" cy="314554"/>
          </a:xfrm>
          <a:prstGeom prst="rect">
            <a:avLst/>
          </a:prstGeom>
          <a:solidFill>
            <a:srgbClr val="6EE787"/>
          </a:solidFill>
          <a:ln w="6350">
            <a:solidFill>
              <a:srgbClr val="6EE78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58323" y="4231843"/>
            <a:ext cx="314554" cy="314554"/>
          </a:xfrm>
          <a:prstGeom prst="rect">
            <a:avLst/>
          </a:prstGeom>
          <a:solidFill>
            <a:srgbClr val="9DF2B0"/>
          </a:solidFill>
          <a:ln w="6350">
            <a:solidFill>
              <a:srgbClr val="9DF2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22762" y="4264762"/>
            <a:ext cx="248717" cy="248717"/>
          </a:xfrm>
          <a:prstGeom prst="ellipse">
            <a:avLst/>
          </a:prstGeom>
          <a:solidFill>
            <a:srgbClr val="F05A5A"/>
          </a:solidFill>
          <a:ln w="6350">
            <a:solidFill>
              <a:srgbClr val="B23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3571" y="4067251"/>
            <a:ext cx="277978" cy="277978"/>
          </a:xfrm>
          <a:prstGeom prst="diamond">
            <a:avLst/>
          </a:prstGeom>
          <a:solidFill>
            <a:srgbClr val="F7C948"/>
          </a:solidFill>
          <a:ln w="6350">
            <a:solidFill>
              <a:srgbClr val="C79B2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Rắn săn mồi — Lý thuyết thuật toán &amp; kỹ thuật</dc:title>
  <dc:subject>PptxGenJS Presentation</dc:subject>
  <dc:creator>Casluminous</dc:creator>
  <cp:lastModifiedBy>Casluminous</cp:lastModifiedBy>
  <cp:revision>1</cp:revision>
  <dcterms:created xsi:type="dcterms:W3CDTF">2026-10-21T02:59:42Z</dcterms:created>
  <dcterms:modified xsi:type="dcterms:W3CDTF">2026-10-21T02:59:42Z</dcterms:modified>
</cp:coreProperties>
</file>