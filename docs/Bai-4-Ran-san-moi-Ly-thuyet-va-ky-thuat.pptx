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Tốc độ</c:v>
                </c:pt>
              </c:strCache>
            </c:strRef>
          </c:tx>
          <c:spPr>
            <a:solidFill>
              <a:srgbClr val="6EE787"/>
            </a:solidFill>
            <a:ln w="38100" cap="flat">
              <a:solidFill>
                <a:srgbClr val="6EE78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EE787"/>
              </a:solidFill>
              <a:ln w="9525" cap="flat">
                <a:solidFill>
                  <a:srgbClr val="6EE78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6</c:v>
                </c:pt>
                <c:pt idx="1">
                  <c:v>7.5</c:v>
                </c:pt>
                <c:pt idx="2">
                  <c:v>9</c:v>
                </c:pt>
                <c:pt idx="3">
                  <c:v>10.5</c:v>
                </c:pt>
                <c:pt idx="4">
                  <c:v>12</c:v>
                </c:pt>
                <c:pt idx="5">
                  <c:v>13.5</c:v>
                </c:pt>
                <c:pt idx="6">
                  <c:v>15</c:v>
                </c:pt>
                <c:pt idx="7">
                  <c:v>16</c:v>
                </c:pt>
                <c:pt idx="8">
                  <c:v>16</c:v>
                </c:pt>
                <c:pt idx="9">
                  <c:v>16</c:v>
                </c:pt>
                <c:pt idx="10">
                  <c:v>16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39BB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"/>
          <c:min val="0"/>
        </c:scaling>
        <c:delete val="0"/>
        <c:axPos val="l"/>
        <c:majorGridlines>
          <c:spPr>
            <a:ln w="6350" cap="flat">
              <a:solidFill>
                <a:srgbClr val="262A3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39BB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1A1D27"/>
    </a:solidFill>
    <a:ln w="12700" cap="flat">
      <a:solidFill>
        <a:srgbClr val="2B3040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10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asluminous/snake-game" TargetMode="External"/><Relationship Id="rId1" Type="http://schemas.openxmlformats.org/officeDocument/2006/relationships/image" Target="../media/Slide-16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772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F7C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TẬP THỰC HÀNH · PYGAME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143000"/>
            <a:ext cx="8686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RẮN SĂN MỒI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23317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 thuyết cách hoạt động của thuật toán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 vài trang kỹ thuật triển khai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520440"/>
            <a:ext cx="1755648" cy="402336"/>
          </a:xfrm>
          <a:prstGeom prst="rect">
            <a:avLst/>
          </a:prstGeom>
          <a:solidFill>
            <a:srgbClr val="202430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52044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3.14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706624" y="3520440"/>
            <a:ext cx="1755648" cy="402336"/>
          </a:xfrm>
          <a:prstGeom prst="rect">
            <a:avLst/>
          </a:prstGeom>
          <a:solidFill>
            <a:srgbClr val="202430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06624" y="352044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pygame-ce 2.5.8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90288" y="3520440"/>
            <a:ext cx="1755648" cy="402336"/>
          </a:xfrm>
          <a:prstGeom prst="rect">
            <a:avLst/>
          </a:prstGeom>
          <a:solidFill>
            <a:srgbClr val="202430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0288" y="352044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Lưới 30 × 24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73952" y="3520440"/>
            <a:ext cx="1755648" cy="402336"/>
          </a:xfrm>
          <a:prstGeom prst="rect">
            <a:avLst/>
          </a:prstGeom>
          <a:solidFill>
            <a:srgbClr val="202430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352044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FPS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5989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github.com/Casluminous/snake-game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41163" y="4878507"/>
            <a:ext cx="283098" cy="283098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70347" y="4878507"/>
            <a:ext cx="283098" cy="283098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99531" y="4878507"/>
            <a:ext cx="283098" cy="283098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28715" y="4878507"/>
            <a:ext cx="283098" cy="283098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57899" y="4878507"/>
            <a:ext cx="283098" cy="283098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87083" y="4878507"/>
            <a:ext cx="283098" cy="283098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816267" y="4878507"/>
            <a:ext cx="283098" cy="283098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816267" y="4549323"/>
            <a:ext cx="283098" cy="283098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816267" y="4220139"/>
            <a:ext cx="283098" cy="283098"/>
          </a:xfrm>
          <a:prstGeom prst="rect">
            <a:avLst/>
          </a:prstGeom>
          <a:solidFill>
            <a:srgbClr val="9DF2B0"/>
          </a:solidFill>
          <a:ln w="6350">
            <a:solidFill>
              <a:srgbClr val="9DF2B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504261" y="4908133"/>
            <a:ext cx="223845" cy="223845"/>
          </a:xfrm>
          <a:prstGeom prst="ellipse">
            <a:avLst/>
          </a:prstGeom>
          <a:solidFill>
            <a:srgbClr val="F05A5A"/>
          </a:solidFill>
          <a:ln w="6350">
            <a:solidFill>
              <a:srgbClr val="B23C3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845174" y="4434108"/>
            <a:ext cx="250180" cy="250180"/>
          </a:xfrm>
          <a:prstGeom prst="diamond">
            <a:avLst/>
          </a:prstGeom>
          <a:solidFill>
            <a:srgbClr val="F7C948"/>
          </a:solidFill>
          <a:ln w="6350">
            <a:solidFill>
              <a:srgbClr val="C79B2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8096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RẮN SĂN MỒI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Luật chơi — 4 quy tắc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440680" cy="1965960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00200"/>
            <a:ext cx="82296" cy="1965960"/>
          </a:xfrm>
          <a:prstGeom prst="rect">
            <a:avLst/>
          </a:prstGeom>
          <a:solidFill>
            <a:srgbClr val="6EE787"/>
          </a:solidFill>
          <a:ln w="12700">
            <a:solidFill>
              <a:srgbClr val="6EE78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1892808"/>
            <a:ext cx="777240" cy="777240"/>
          </a:xfrm>
          <a:prstGeom prst="ellipse">
            <a:avLst/>
          </a:prstGeom>
          <a:solidFill>
            <a:srgbClr val="202430"/>
          </a:solidFill>
          <a:ln w="19050">
            <a:solidFill>
              <a:srgbClr val="6EE78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189280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874520" y="19476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Ăn mồi → dài ra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874520" y="246888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Mồi đỏ +1 điểm, thân dài thêm đúng 1 đốt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172200" y="1600200"/>
            <a:ext cx="5440680" cy="1965960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1600200"/>
            <a:ext cx="82296" cy="1965960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92240" y="1892808"/>
            <a:ext cx="777240" cy="777240"/>
          </a:xfrm>
          <a:prstGeom prst="ellipse">
            <a:avLst/>
          </a:prstGeom>
          <a:solidFill>
            <a:srgbClr val="202430"/>
          </a:solidFill>
          <a:ln w="19050">
            <a:solidFill>
              <a:srgbClr val="F7C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189280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C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5×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498080" y="19476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mồi → nhanh hơn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498080" y="246888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+1,5 bước/giây sau mỗi 5 mồi, trần 16 bước/giây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3840480"/>
            <a:ext cx="5440680" cy="1965960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840480"/>
            <a:ext cx="82296" cy="1965960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8680" y="4133088"/>
            <a:ext cx="777240" cy="777240"/>
          </a:xfrm>
          <a:prstGeom prst="ellipse">
            <a:avLst/>
          </a:prstGeom>
          <a:solidFill>
            <a:srgbClr val="202430"/>
          </a:solidFill>
          <a:ln w="19050">
            <a:solidFill>
              <a:srgbClr val="F7C94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413308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C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874520" y="41879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Mồi vàng: 5 giây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874520" y="470916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Xuất hiện ngẫu nhiên, hết 5 giây tự biến mất, ăn được +5 điểm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172200" y="3840480"/>
            <a:ext cx="5440680" cy="1965960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72200" y="3840480"/>
            <a:ext cx="82296" cy="1965960"/>
          </a:xfrm>
          <a:prstGeom prst="rect">
            <a:avLst/>
          </a:prstGeom>
          <a:solidFill>
            <a:srgbClr val="F05A5A"/>
          </a:solidFill>
          <a:ln w="12700">
            <a:solidFill>
              <a:srgbClr val="F05A5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92240" y="4133088"/>
            <a:ext cx="777240" cy="777240"/>
          </a:xfrm>
          <a:prstGeom prst="ellipse">
            <a:avLst/>
          </a:prstGeom>
          <a:solidFill>
            <a:srgbClr val="202430"/>
          </a:solidFill>
          <a:ln w="19050">
            <a:solidFill>
              <a:srgbClr val="F05A5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413308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498080" y="41879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Chạm tường / thân → thua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7498080" y="470916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over — R hoặc nút chơi lại, Esc thoát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8096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RẮN SĂN MỒI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Mọi thứ quy về ô lưới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4608576" cy="2688336"/>
          </a:xfrm>
          <a:prstGeom prst="rect">
            <a:avLst/>
          </a:prstGeom>
          <a:solidFill>
            <a:srgbClr val="0F1119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15568" y="1828800"/>
            <a:ext cx="0" cy="2688336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99616" y="1828800"/>
            <a:ext cx="0" cy="2688336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83664" y="1828800"/>
            <a:ext cx="0" cy="2688336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67712" y="1828800"/>
            <a:ext cx="0" cy="2688336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51760" y="1828800"/>
            <a:ext cx="0" cy="2688336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035808" y="1828800"/>
            <a:ext cx="0" cy="2688336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9856" y="1828800"/>
            <a:ext cx="0" cy="2688336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03904" y="1828800"/>
            <a:ext cx="0" cy="2688336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87952" y="1828800"/>
            <a:ext cx="0" cy="2688336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0" y="1828800"/>
            <a:ext cx="0" cy="2688336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56048" y="1828800"/>
            <a:ext cx="0" cy="2688336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" y="2212848"/>
            <a:ext cx="4608576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2596896"/>
            <a:ext cx="4608576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2980944"/>
            <a:ext cx="4608576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3364992"/>
            <a:ext cx="4608576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" y="3749040"/>
            <a:ext cx="4608576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1520" y="4133088"/>
            <a:ext cx="4608576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26499" y="3007827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10547" y="3007827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94595" y="3007827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94595" y="3391875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94595" y="3775923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78643" y="3775923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62691" y="3775923"/>
            <a:ext cx="330281" cy="330281"/>
          </a:xfrm>
          <a:prstGeom prst="rect">
            <a:avLst/>
          </a:prstGeom>
          <a:solidFill>
            <a:srgbClr val="9DF2B0"/>
          </a:solidFill>
          <a:ln w="6350">
            <a:solidFill>
              <a:srgbClr val="9DF2B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65352" y="2658344"/>
            <a:ext cx="261153" cy="261153"/>
          </a:xfrm>
          <a:prstGeom prst="ellipse">
            <a:avLst/>
          </a:prstGeom>
          <a:solidFill>
            <a:srgbClr val="F05A5A"/>
          </a:solidFill>
          <a:ln w="6350">
            <a:solidFill>
              <a:srgbClr val="B23C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34038" y="3411078"/>
            <a:ext cx="291876" cy="291876"/>
          </a:xfrm>
          <a:prstGeom prst="diamond">
            <a:avLst/>
          </a:prstGeom>
          <a:solidFill>
            <a:srgbClr val="F7C948"/>
          </a:solidFill>
          <a:ln w="6350">
            <a:solidFill>
              <a:srgbClr val="C79B2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27832" y="3518611"/>
            <a:ext cx="0" cy="1005840"/>
          </a:xfrm>
          <a:prstGeom prst="line">
            <a:avLst/>
          </a:prstGeom>
          <a:noFill/>
          <a:ln w="12700">
            <a:solidFill>
              <a:srgbClr val="F7C948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3093415" y="3115361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7C9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đầu (6, 5)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31520" y="4626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cột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77256" y="31729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hàng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223760" y="1737360"/>
            <a:ext cx="4389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Lưới 30 × 24 ô, ô 20 px — toạ độ nguyên (x, y)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bước: đầu + hướng = ô kế tiếp, cách đúng 1 ô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chạm = kiểm tra ô kế tiếp có thuộc tập ô của thân không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Vẽ: pixel = ô × 20, cộng 40 px thanh HUD phía trên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223760" y="4892040"/>
            <a:ext cx="4389120" cy="868680"/>
          </a:xfrm>
          <a:prstGeom prst="rect">
            <a:avLst/>
          </a:prstGeom>
          <a:solidFill>
            <a:srgbClr val="232634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406640" y="5001768"/>
            <a:ext cx="40233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7C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Cửa sổ 600 × 520 px — trên lưới 720 ô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8096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RẮN SĂN MỒI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Rắn = deque các toạ độ ô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463040" y="2286000"/>
            <a:ext cx="566928" cy="566928"/>
          </a:xfrm>
          <a:prstGeom prst="rect">
            <a:avLst/>
          </a:prstGeom>
          <a:solidFill>
            <a:srgbClr val="9DF2B0"/>
          </a:solidFill>
          <a:ln w="12700">
            <a:solidFill>
              <a:srgbClr val="2E8C5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39696" y="2286000"/>
            <a:ext cx="566928" cy="566928"/>
          </a:xfrm>
          <a:prstGeom prst="rect">
            <a:avLst/>
          </a:prstGeom>
          <a:solidFill>
            <a:srgbClr val="6EE787"/>
          </a:solidFill>
          <a:ln w="12700">
            <a:solidFill>
              <a:srgbClr val="2E8C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16352" y="2286000"/>
            <a:ext cx="566928" cy="566928"/>
          </a:xfrm>
          <a:prstGeom prst="rect">
            <a:avLst/>
          </a:prstGeom>
          <a:solidFill>
            <a:srgbClr val="6EE787"/>
          </a:solidFill>
          <a:ln w="12700">
            <a:solidFill>
              <a:srgbClr val="2E8C5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93008" y="2286000"/>
            <a:ext cx="566928" cy="566928"/>
          </a:xfrm>
          <a:prstGeom prst="rect">
            <a:avLst/>
          </a:prstGeom>
          <a:solidFill>
            <a:srgbClr val="6EE787"/>
          </a:solidFill>
          <a:ln w="12700">
            <a:solidFill>
              <a:srgbClr val="2E8C5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69664" y="2286000"/>
            <a:ext cx="566928" cy="566928"/>
          </a:xfrm>
          <a:prstGeom prst="rect">
            <a:avLst/>
          </a:prstGeom>
          <a:solidFill>
            <a:srgbClr val="6EE787"/>
          </a:solidFill>
          <a:ln w="12700">
            <a:solidFill>
              <a:srgbClr val="2E8C5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2286000"/>
            <a:ext cx="566928" cy="566928"/>
          </a:xfrm>
          <a:prstGeom prst="rect">
            <a:avLst/>
          </a:prstGeom>
          <a:solidFill>
            <a:srgbClr val="6EE787"/>
          </a:solidFill>
          <a:ln w="12700">
            <a:solidFill>
              <a:srgbClr val="2E8C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71600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7C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đầu · index 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951683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thân …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19472" y="1874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đuôi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2569464"/>
            <a:ext cx="960120" cy="0"/>
          </a:xfrm>
          <a:prstGeom prst="line">
            <a:avLst/>
          </a:prstGeom>
          <a:noFill/>
          <a:ln w="31750">
            <a:solidFill>
              <a:srgbClr val="F7C948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228600" y="30175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7C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appendleft(đầu mới) · O(1)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32704" y="2569464"/>
            <a:ext cx="914400" cy="0"/>
          </a:xfrm>
          <a:prstGeom prst="line">
            <a:avLst/>
          </a:prstGeom>
          <a:noFill/>
          <a:ln w="31750">
            <a:solidFill>
              <a:srgbClr val="F05A5A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541264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pop() đuôi · O(1)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343400"/>
            <a:ext cx="6309360" cy="1234440"/>
          </a:xfrm>
          <a:prstGeom prst="rect">
            <a:avLst/>
          </a:prstGeom>
          <a:solidFill>
            <a:srgbClr val="232634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453128"/>
            <a:ext cx="59436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Ăn mồi = bỏ qua pop() ⇒ dài thêm đúng 1 đốt. Không ăn thì đuôi rời đi — rắn trượt tới trước.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452360" y="1737360"/>
            <a:ext cx="4160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deque: appendleft / pop đều O(1)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chèn-xoá đầu tốn O(n) — không dùng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phần tử chỉ là cặp số nguyên (x, y)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Hàng đợi hướng đi riêng, tối đa 2 phần tử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8096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RẮN SĂN MỒI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Thuật toán một bước — step()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572768"/>
            <a:ext cx="530352" cy="530352"/>
          </a:xfrm>
          <a:prstGeom prst="ellipse">
            <a:avLst/>
          </a:prstGeom>
          <a:solidFill>
            <a:srgbClr val="202430"/>
          </a:solidFill>
          <a:ln w="19050">
            <a:solidFill>
              <a:srgbClr val="6EE78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7276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25880" y="153619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Hết hạn mồi vàng?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325880" y="1901952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≥ deadline → xoá mồi vàng khỏi bàn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59536" y="2139696"/>
            <a:ext cx="0" cy="329184"/>
          </a:xfrm>
          <a:prstGeom prst="line">
            <a:avLst/>
          </a:prstGeom>
          <a:noFill/>
          <a:ln w="19050">
            <a:solidFill>
              <a:srgbClr val="2B30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2505456"/>
            <a:ext cx="530352" cy="530352"/>
          </a:xfrm>
          <a:prstGeom prst="ellipse">
            <a:avLst/>
          </a:prstGeom>
          <a:solidFill>
            <a:srgbClr val="202430"/>
          </a:solidFill>
          <a:ln w="19050">
            <a:solidFill>
              <a:srgbClr val="6EE78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5054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25880" y="24688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hướng đi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325880" y="2834640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lấy 1 hướng từ hàng đợi, bỏ hướng ngược 180°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59536" y="3072384"/>
            <a:ext cx="0" cy="329184"/>
          </a:xfrm>
          <a:prstGeom prst="line">
            <a:avLst/>
          </a:prstGeom>
          <a:noFill/>
          <a:ln w="19050">
            <a:solidFill>
              <a:srgbClr val="2B30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3438144"/>
            <a:ext cx="530352" cy="530352"/>
          </a:xfrm>
          <a:prstGeom prst="ellipse">
            <a:avLst/>
          </a:prstGeom>
          <a:solidFill>
            <a:srgbClr val="202430"/>
          </a:solidFill>
          <a:ln w="19050">
            <a:solidFill>
              <a:srgbClr val="6EE78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4381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340156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Tính ô đầu mới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325880" y="3767328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đầu mới = đầu + vector hướng (1 ô)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59536" y="4005072"/>
            <a:ext cx="0" cy="329184"/>
          </a:xfrm>
          <a:prstGeom prst="line">
            <a:avLst/>
          </a:prstGeom>
          <a:noFill/>
          <a:ln w="19050">
            <a:solidFill>
              <a:srgbClr val="2B304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4370832"/>
            <a:ext cx="530352" cy="530352"/>
          </a:xfrm>
          <a:prstGeom prst="ellipse">
            <a:avLst/>
          </a:prstGeom>
          <a:solidFill>
            <a:srgbClr val="202430"/>
          </a:solidFill>
          <a:ln w="19050">
            <a:solidFill>
              <a:srgbClr val="F05A5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43708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25880" y="433425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tra va chạm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325880" y="4700016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 ngoài lưới hoặc trúng thân → game over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59536" y="4937760"/>
            <a:ext cx="0" cy="329184"/>
          </a:xfrm>
          <a:prstGeom prst="line">
            <a:avLst/>
          </a:prstGeom>
          <a:noFill/>
          <a:ln w="19050">
            <a:solidFill>
              <a:srgbClr val="2B30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5303520"/>
            <a:ext cx="530352" cy="530352"/>
          </a:xfrm>
          <a:prstGeom prst="ellipse">
            <a:avLst/>
          </a:prstGeom>
          <a:solidFill>
            <a:srgbClr val="202430"/>
          </a:solidFill>
          <a:ln w="19050">
            <a:solidFill>
              <a:srgbClr val="6EE78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53035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25880" y="5266944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Cập nhật trạng thái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1325880" y="5632704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đẩy đầu mới, cắt đuôi, cộng điểm, đủ 5 mồi thì tăng tốc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001000" y="1783080"/>
            <a:ext cx="3566160" cy="2286000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01000" y="1783080"/>
            <a:ext cx="3566160" cy="7315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75320" y="2011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7C9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tick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275320" y="251460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 ô lưới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1000 / speed mili-giây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166,7 ms khi mới bắt đầu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8001000" y="4343400"/>
            <a:ext cx="3566160" cy="1051560"/>
          </a:xfrm>
          <a:prstGeom prst="rect">
            <a:avLst/>
          </a:prstGeom>
          <a:solidFill>
            <a:srgbClr val="232634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183880" y="4453128"/>
            <a:ext cx="32004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step() chỉ chạy đúng một lần mỗi chu kỳ, không phụ thuộc số khung hình vẽ.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8096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RẮN SĂN MỒI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Nhịp thời gian — bộ tích luỹ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77240" y="1783080"/>
            <a:ext cx="1097280" cy="566928"/>
          </a:xfrm>
          <a:prstGeom prst="rect">
            <a:avLst/>
          </a:prstGeom>
          <a:solidFill>
            <a:srgbClr val="202430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8308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9B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16,7 ms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03120" y="1783080"/>
            <a:ext cx="1097280" cy="566928"/>
          </a:xfrm>
          <a:prstGeom prst="rect">
            <a:avLst/>
          </a:prstGeom>
          <a:solidFill>
            <a:srgbClr val="202430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03120" y="178308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9B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16,7 ms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29000" y="1783080"/>
            <a:ext cx="1097280" cy="566928"/>
          </a:xfrm>
          <a:prstGeom prst="rect">
            <a:avLst/>
          </a:prstGeom>
          <a:solidFill>
            <a:srgbClr val="202430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178308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9B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16,7 ms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1783080"/>
            <a:ext cx="1097280" cy="566928"/>
          </a:xfrm>
          <a:prstGeom prst="rect">
            <a:avLst/>
          </a:prstGeom>
          <a:solidFill>
            <a:srgbClr val="202430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78308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9B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16,7 ms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0760" y="1783080"/>
            <a:ext cx="1097280" cy="566928"/>
          </a:xfrm>
          <a:prstGeom prst="rect">
            <a:avLst/>
          </a:prstGeom>
          <a:solidFill>
            <a:srgbClr val="202430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0760" y="178308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9B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16,7 ms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2441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khung hình vẽ (60 FPS)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77240" y="3063240"/>
            <a:ext cx="7040880" cy="502920"/>
          </a:xfrm>
          <a:prstGeom prst="rect">
            <a:avLst/>
          </a:prstGeom>
          <a:solidFill>
            <a:srgbClr val="0F1119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3063240"/>
            <a:ext cx="4709160" cy="502920"/>
          </a:xfrm>
          <a:prstGeom prst="rect">
            <a:avLst/>
          </a:prstGeom>
          <a:solidFill>
            <a:srgbClr val="6EE787"/>
          </a:solidFill>
          <a:ln w="12700">
            <a:solidFill>
              <a:srgbClr val="6EE78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0" y="2926080"/>
            <a:ext cx="0" cy="777240"/>
          </a:xfrm>
          <a:prstGeom prst="line">
            <a:avLst/>
          </a:prstGeom>
          <a:noFill/>
          <a:ln w="31750">
            <a:solidFill>
              <a:srgbClr val="F7C948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960120" y="30632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4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 += dt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434840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7C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ngưỡng 1000 / speed → step()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7240" y="4251960"/>
            <a:ext cx="7040880" cy="1325880"/>
          </a:xfrm>
          <a:prstGeom prst="rect">
            <a:avLst/>
          </a:prstGeom>
          <a:solidFill>
            <a:srgbClr val="0F1119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416552"/>
            <a:ext cx="658368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acc &gt;= 1000 / speed: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acc -= 1000 / speed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step()   # rắn bước đúng 1 ô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366760" y="1783080"/>
            <a:ext cx="32461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FPS chỉ để vẽ mượt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chạy theo speed: 6 → 16 bước/giây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Máy yếu hay mạnh, tốc độ rắn vẫn đúng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8096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RẮN SĂN MỒI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Ăn mồi — dài ra như thế nào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68680" y="1600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Trước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68680" y="1965960"/>
            <a:ext cx="2286000" cy="1828800"/>
          </a:xfrm>
          <a:prstGeom prst="rect">
            <a:avLst/>
          </a:prstGeom>
          <a:solidFill>
            <a:srgbClr val="0F1119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25880" y="1965960"/>
            <a:ext cx="0" cy="182880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83080" y="1965960"/>
            <a:ext cx="0" cy="182880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40280" y="1965960"/>
            <a:ext cx="0" cy="182880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97480" y="1965960"/>
            <a:ext cx="0" cy="182880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8680" y="2423160"/>
            <a:ext cx="228600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8680" y="2880360"/>
            <a:ext cx="228600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8680" y="3337560"/>
            <a:ext cx="228600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00684" y="2912364"/>
            <a:ext cx="393192" cy="393192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57884" y="2912364"/>
            <a:ext cx="393192" cy="393192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15084" y="2912364"/>
            <a:ext cx="393192" cy="393192"/>
          </a:xfrm>
          <a:prstGeom prst="rect">
            <a:avLst/>
          </a:prstGeom>
          <a:solidFill>
            <a:srgbClr val="9DF2B0"/>
          </a:solidFill>
          <a:ln w="6350">
            <a:solidFill>
              <a:srgbClr val="9DF2B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13432" y="2953512"/>
            <a:ext cx="310896" cy="310896"/>
          </a:xfrm>
          <a:prstGeom prst="ellipse">
            <a:avLst/>
          </a:prstGeom>
          <a:solidFill>
            <a:srgbClr val="F05A5A"/>
          </a:solidFill>
          <a:ln w="6350">
            <a:solidFill>
              <a:srgbClr val="B23C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29000" y="26517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7C9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4297680" y="1600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297680" y="1965960"/>
            <a:ext cx="2286000" cy="1828800"/>
          </a:xfrm>
          <a:prstGeom prst="rect">
            <a:avLst/>
          </a:prstGeom>
          <a:solidFill>
            <a:srgbClr val="0F1119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0" y="1965960"/>
            <a:ext cx="0" cy="182880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12080" y="1965960"/>
            <a:ext cx="0" cy="182880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0" y="1965960"/>
            <a:ext cx="0" cy="182880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26480" y="1965960"/>
            <a:ext cx="0" cy="182880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97680" y="2423160"/>
            <a:ext cx="228600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97680" y="2880360"/>
            <a:ext cx="228600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97680" y="3337560"/>
            <a:ext cx="228600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29684" y="2912364"/>
            <a:ext cx="393192" cy="393192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86884" y="2912364"/>
            <a:ext cx="393192" cy="393192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244084" y="2912364"/>
            <a:ext cx="393192" cy="393192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01284" y="2912364"/>
            <a:ext cx="393192" cy="393192"/>
          </a:xfrm>
          <a:prstGeom prst="rect">
            <a:avLst/>
          </a:prstGeom>
          <a:solidFill>
            <a:srgbClr val="9DF2B0"/>
          </a:solidFill>
          <a:ln w="6350">
            <a:solidFill>
              <a:srgbClr val="9DF2B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99632" y="2039112"/>
            <a:ext cx="310896" cy="310896"/>
          </a:xfrm>
          <a:prstGeom prst="ellipse">
            <a:avLst/>
          </a:prstGeom>
          <a:solidFill>
            <a:srgbClr val="F05A5A"/>
          </a:solidFill>
          <a:ln w="6350">
            <a:solidFill>
              <a:srgbClr val="B23C3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68680" y="40690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appendleft(đầu mới)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68680" y="4389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pop() → đuôi giữ nguyên, +1 đốt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297680" y="43891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điểm · sinh mồi mới ở ô trống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595360" y="1737360"/>
            <a:ext cx="2971800" cy="2606040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595360" y="1737360"/>
            <a:ext cx="2971800" cy="73152"/>
          </a:xfrm>
          <a:prstGeom prst="rect">
            <a:avLst/>
          </a:prstGeom>
          <a:solidFill>
            <a:srgbClr val="6EE787"/>
          </a:solidFill>
          <a:ln w="12700">
            <a:solidFill>
              <a:srgbClr val="6EE78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869680" y="1965960"/>
            <a:ext cx="2468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21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bước</a:t>
            </a:r>
            <a:endParaRPr lang="en-US" sz="2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1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thao tác</a:t>
            </a:r>
            <a:endParaRPr lang="en-US" sz="2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1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vòng lặp</a:t>
            </a:r>
            <a:endParaRPr lang="en-US" sz="2100" dirty="0"/>
          </a:p>
        </p:txBody>
      </p:sp>
      <p:sp>
        <p:nvSpPr>
          <p:cNvPr id="40" name="Shape 38"/>
          <p:cNvSpPr/>
          <p:nvPr/>
        </p:nvSpPr>
        <p:spPr>
          <a:xfrm>
            <a:off x="8595360" y="4572000"/>
            <a:ext cx="2971800" cy="1143000"/>
          </a:xfrm>
          <a:prstGeom prst="rect">
            <a:avLst/>
          </a:prstGeom>
          <a:solidFill>
            <a:srgbClr val="232634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778240" y="4681728"/>
            <a:ext cx="26060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Mồi vàng +5 điểm nhưng không dài — phần thưởng hiếm, khác mồi thường.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8096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RẮN SĂN MỒI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 chạm — 3 tình huống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77240" y="2148840"/>
            <a:ext cx="1920240" cy="1920240"/>
          </a:xfrm>
          <a:prstGeom prst="rect">
            <a:avLst/>
          </a:prstGeom>
          <a:solidFill>
            <a:srgbClr val="0F1119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1288" y="2148840"/>
            <a:ext cx="0" cy="192024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45336" y="2148840"/>
            <a:ext cx="0" cy="192024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29384" y="2148840"/>
            <a:ext cx="0" cy="192024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13432" y="2148840"/>
            <a:ext cx="0" cy="192024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2532888"/>
            <a:ext cx="192024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2916936"/>
            <a:ext cx="192024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3300984"/>
            <a:ext cx="192024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685032"/>
            <a:ext cx="192024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8171" y="2943819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72219" y="2943819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56267" y="2943819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0315" y="2943819"/>
            <a:ext cx="330281" cy="330281"/>
          </a:xfrm>
          <a:prstGeom prst="rect">
            <a:avLst/>
          </a:prstGeom>
          <a:solidFill>
            <a:srgbClr val="9DF2B0"/>
          </a:solidFill>
          <a:ln w="6350">
            <a:solidFill>
              <a:srgbClr val="9DF2B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23160" y="2834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0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77240" y="4233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 ngoài tường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4572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9B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∉ [0, 30) hoặc y ∉ [0, 24)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977640" y="2148840"/>
            <a:ext cx="1920240" cy="1920240"/>
          </a:xfrm>
          <a:prstGeom prst="rect">
            <a:avLst/>
          </a:prstGeom>
          <a:solidFill>
            <a:srgbClr val="0F1119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61688" y="2148840"/>
            <a:ext cx="0" cy="192024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45736" y="2148840"/>
            <a:ext cx="0" cy="192024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129784" y="2148840"/>
            <a:ext cx="0" cy="192024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13832" y="2148840"/>
            <a:ext cx="0" cy="192024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977640" y="2532888"/>
            <a:ext cx="192024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77640" y="2916936"/>
            <a:ext cx="192024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977640" y="3300984"/>
            <a:ext cx="192024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77640" y="3685032"/>
            <a:ext cx="192024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88571" y="2559771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72619" y="2559771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56667" y="2559771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40715" y="2559771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540715" y="2943819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540715" y="3327867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56667" y="3327867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2619" y="3327867"/>
            <a:ext cx="330281" cy="330281"/>
          </a:xfrm>
          <a:prstGeom prst="rect">
            <a:avLst/>
          </a:prstGeom>
          <a:solidFill>
            <a:srgbClr val="9DF2B0"/>
          </a:solidFill>
          <a:ln w="6350">
            <a:solidFill>
              <a:srgbClr val="9DF2B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20056" y="31912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3977640" y="4233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Đâm vào thân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977640" y="4572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9B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ô kế tiếp ∈ thân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178040" y="2148840"/>
            <a:ext cx="1920240" cy="1920240"/>
          </a:xfrm>
          <a:prstGeom prst="rect">
            <a:avLst/>
          </a:prstGeom>
          <a:solidFill>
            <a:srgbClr val="0F1119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62088" y="2148840"/>
            <a:ext cx="0" cy="192024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946136" y="2148840"/>
            <a:ext cx="0" cy="192024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330184" y="2148840"/>
            <a:ext cx="0" cy="192024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714232" y="2148840"/>
            <a:ext cx="0" cy="192024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78040" y="2532888"/>
            <a:ext cx="192024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78040" y="2916936"/>
            <a:ext cx="192024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178040" y="3300984"/>
            <a:ext cx="192024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178040" y="3685032"/>
            <a:ext cx="192024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204923" y="2559771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588971" y="2559771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204923" y="2943819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88971" y="2943819"/>
            <a:ext cx="330281" cy="330281"/>
          </a:xfrm>
          <a:prstGeom prst="rect">
            <a:avLst/>
          </a:prstGeom>
          <a:solidFill>
            <a:srgbClr val="9DF2B0"/>
          </a:solidFill>
          <a:ln w="6350">
            <a:solidFill>
              <a:srgbClr val="9DF2B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504481" y="3108960"/>
            <a:ext cx="230429" cy="0"/>
          </a:xfrm>
          <a:prstGeom prst="line">
            <a:avLst/>
          </a:prstGeom>
          <a:noFill/>
          <a:ln w="31750">
            <a:solidFill>
              <a:srgbClr val="F7C948"/>
            </a:solidFill>
            <a:prstDash val="solid"/>
            <a:headEnd type="triangle"/>
          </a:ln>
        </p:spPr>
      </p:sp>
      <p:sp>
        <p:nvSpPr>
          <p:cNvPr id="56" name="Text 54"/>
          <p:cNvSpPr/>
          <p:nvPr/>
        </p:nvSpPr>
        <p:spPr>
          <a:xfrm>
            <a:off x="7178040" y="42336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Bước vào ô đuôi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7178040" y="4572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hợp lệ — đuôi rời cùng bước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10241280" y="2148840"/>
            <a:ext cx="1371600" cy="1920240"/>
          </a:xfrm>
          <a:prstGeom prst="rect">
            <a:avLst/>
          </a:prstGeom>
          <a:solidFill>
            <a:srgbClr val="232634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424160" y="2258568"/>
            <a:ext cx="10058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Thân bỏ đốt cuối khi kiểm tra (nếu không dài ra)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777240" y="5349240"/>
            <a:ext cx="10835640" cy="777240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77240" y="5349240"/>
            <a:ext cx="73152" cy="777240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51560" y="534924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tra va chạm chạy TRƯỚC khi di chuyển — thua thì dừng ngay, không vẽ bước đi.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8096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RẮN SĂN MỒI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Mồi vàng — hẹn giờ 5 giây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68680" y="2377440"/>
            <a:ext cx="7680960" cy="146304"/>
          </a:xfrm>
          <a:prstGeom prst="rect">
            <a:avLst/>
          </a:prstGeom>
          <a:solidFill>
            <a:srgbClr val="2B3040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2377440"/>
            <a:ext cx="7680960" cy="146304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8952" y="2322576"/>
            <a:ext cx="256032" cy="256032"/>
          </a:xfrm>
          <a:prstGeom prst="ellipse">
            <a:avLst/>
          </a:prstGeom>
          <a:solidFill>
            <a:srgbClr val="6EE787"/>
          </a:solidFill>
          <a:ln w="12700">
            <a:solidFill>
              <a:srgbClr val="6EE78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39912" y="2322576"/>
            <a:ext cx="256032" cy="256032"/>
          </a:xfrm>
          <a:prstGeom prst="ellipse">
            <a:avLst/>
          </a:prstGeom>
          <a:solidFill>
            <a:srgbClr val="F05A5A"/>
          </a:solidFill>
          <a:ln w="12700">
            <a:solidFill>
              <a:srgbClr val="F05A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spawn(now)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583680" y="1874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0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deadline = now + 5000 ms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520440" y="26334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mồi vàng tồn tại trên bàn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62856" y="2286000"/>
            <a:ext cx="329184" cy="329184"/>
          </a:xfrm>
          <a:prstGeom prst="diamond">
            <a:avLst/>
          </a:prstGeom>
          <a:solidFill>
            <a:srgbClr val="F7C948"/>
          </a:solidFill>
          <a:ln w="12700">
            <a:solidFill>
              <a:srgbClr val="C79B2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8680" y="3657600"/>
            <a:ext cx="7680960" cy="777240"/>
          </a:xfrm>
          <a:prstGeom prst="rect">
            <a:avLst/>
          </a:prstGeom>
          <a:solidFill>
            <a:srgbClr val="0F1119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65760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Điểm: 12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834640" y="36576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7C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Mồi vàng: 3,2s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20640" y="3913632"/>
            <a:ext cx="2834640" cy="256032"/>
          </a:xfrm>
          <a:prstGeom prst="rect">
            <a:avLst/>
          </a:prstGeom>
          <a:solidFill>
            <a:srgbClr val="202430"/>
          </a:solidFill>
          <a:ln w="9525">
            <a:solidFill>
              <a:srgbClr val="939BB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48072" y="3941064"/>
            <a:ext cx="1783080" cy="201168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572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HUD đếm ngược theo deadline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915400" y="1783080"/>
            <a:ext cx="27432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1,5 % mỗi bước: sinh mồi vàng khi bàn chưa có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 tuyệt đối — không đếm frame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Hết hạn ở đầu step() → biến mất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Ăn đúng lúc: +5 điểm, không dài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8096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RẮN SĂN MỒI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Tăng tốc — cứ 5 mồi một lần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691640"/>
          <a:ext cx="7680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897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mồi đã ăn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023360" y="1463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bước / giây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595360" y="1737360"/>
            <a:ext cx="2971800" cy="1234440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823960" y="18288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EE7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→ 16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8823960" y="23957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bước/giây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595360" y="3154680"/>
            <a:ext cx="2971800" cy="1234440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796528" y="32461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7C9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166,7 → 62,5</a:t>
            </a:r>
            <a:endParaRPr lang="en-US" sz="2500" dirty="0"/>
          </a:p>
        </p:txBody>
      </p:sp>
      <p:sp>
        <p:nvSpPr>
          <p:cNvPr id="14" name="Text 11"/>
          <p:cNvSpPr/>
          <p:nvPr/>
        </p:nvSpPr>
        <p:spPr>
          <a:xfrm>
            <a:off x="8823960" y="38130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mỗi bước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595360" y="461772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eaten % 5 == 0 → speed += 1,5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= min(speed, 16)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8096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RẮN SĂN MỒI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Điều khiển — chặn lỗi kinh điển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395728" y="1691640"/>
            <a:ext cx="566928" cy="566928"/>
          </a:xfrm>
          <a:prstGeom prst="rect">
            <a:avLst/>
          </a:prstGeom>
          <a:solidFill>
            <a:srgbClr val="202430"/>
          </a:solidFill>
          <a:ln w="15875">
            <a:solidFill>
              <a:srgbClr val="2B30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95728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1737360" y="2331720"/>
            <a:ext cx="566928" cy="566928"/>
          </a:xfrm>
          <a:prstGeom prst="rect">
            <a:avLst/>
          </a:prstGeom>
          <a:solidFill>
            <a:srgbClr val="202430"/>
          </a:solidFill>
          <a:ln w="15875">
            <a:solidFill>
              <a:srgbClr val="2B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37360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395728" y="2331720"/>
            <a:ext cx="566928" cy="566928"/>
          </a:xfrm>
          <a:prstGeom prst="rect">
            <a:avLst/>
          </a:prstGeom>
          <a:solidFill>
            <a:srgbClr val="202430"/>
          </a:solidFill>
          <a:ln w="15875">
            <a:solidFill>
              <a:srgbClr val="2B3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95728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054096" y="2331720"/>
            <a:ext cx="566928" cy="566928"/>
          </a:xfrm>
          <a:prstGeom prst="rect">
            <a:avLst/>
          </a:prstGeom>
          <a:solidFill>
            <a:srgbClr val="202430"/>
          </a:solidFill>
          <a:ln w="15875">
            <a:solidFill>
              <a:srgbClr val="2B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54096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17320" y="30632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WASD — bốn hướng cố định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68680" y="3794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hàng đợi hướng (tối đa 2)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68680" y="4160520"/>
            <a:ext cx="822960" cy="548640"/>
          </a:xfrm>
          <a:prstGeom prst="rect">
            <a:avLst/>
          </a:prstGeom>
          <a:solidFill>
            <a:srgbClr val="202430"/>
          </a:solidFill>
          <a:ln w="19050">
            <a:solidFill>
              <a:srgbClr val="6EE78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1605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828800" y="4160520"/>
            <a:ext cx="822960" cy="548640"/>
          </a:xfrm>
          <a:prstGeom prst="rect">
            <a:avLst/>
          </a:prstGeom>
          <a:solidFill>
            <a:srgbClr val="202430"/>
          </a:solidFill>
          <a:ln w="15875">
            <a:solidFill>
              <a:srgbClr val="2B30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28800" y="41605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2880360" y="41605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tick lấy ra 1 hướng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949440" y="1737360"/>
            <a:ext cx="466344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Cấm quay đầu 180°: hướng mới + hướng cũ = (0, 0) → bỏ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Bấm dồn 2 phím trong 1 tick: hàng đợi giữ lại, áp dụng dần từng bước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Nhờ vậy không có cú « chết oan » nào do bấm nhanh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tạm dừng · R hoặc nút chơi lại · Esc thoát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868680" y="5074920"/>
            <a:ext cx="5486400" cy="960120"/>
          </a:xfrm>
          <a:prstGeom prst="rect">
            <a:avLst/>
          </a:prstGeom>
          <a:solidFill>
            <a:srgbClr val="0F1119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97280" y="5239512"/>
            <a:ext cx="50292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d != dir and (d[0]+dir[0], d[1]+dir[1]) != (0, 0):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dir = d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8096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RẮN SĂN MỒI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Kiểm thử — 9 kịch bản tự động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645920"/>
            <a:ext cx="3584448" cy="1024128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16152" y="1755648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Rắn di chuyển theo lưới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61688" y="1645920"/>
            <a:ext cx="3584448" cy="1024128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983480" y="1755648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Mồi thường +1 điểm, +1 đốt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29016" y="1645920"/>
            <a:ext cx="3584448" cy="1024128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9360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750808" y="1755648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Mồi vàng +5 điểm, không dài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4360" y="2852928"/>
            <a:ext cx="3584448" cy="1024128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" y="2944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16152" y="2962656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Mồi vàng hết hạn 5 giây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361688" y="2852928"/>
            <a:ext cx="3584448" cy="1024128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26280" y="2944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983480" y="2962656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5 mồi → tăng tốc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129016" y="2852928"/>
            <a:ext cx="3584448" cy="1024128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93608" y="2944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750808" y="2962656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Đâm tường → game over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94360" y="4059936"/>
            <a:ext cx="3584448" cy="1024128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8952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216152" y="4169664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Đâm thân → game over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361688" y="4059936"/>
            <a:ext cx="3584448" cy="1024128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26280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983480" y="4169664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Bước vào ô đuôi hợp lệ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129016" y="4059936"/>
            <a:ext cx="3584448" cy="1024128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93608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750808" y="4169664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Chặn quay đầu 180°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94360" y="5440680"/>
            <a:ext cx="10972800" cy="731520"/>
          </a:xfrm>
          <a:prstGeom prst="rect">
            <a:avLst/>
          </a:prstGeom>
          <a:solidFill>
            <a:srgbClr val="202430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68680" y="544068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C9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snake.py --selftest</a:t>
            </a:r>
            <a:pPr indent="0" marL="0">
              <a:buNone/>
            </a:pPr>
            <a:r>
              <a:rPr lang="en-US" sz="15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Selftest OK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8096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RẮN SĂN MỒI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Kỹ thuật 1 — Fixed timestep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F7C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KỸ THUẬT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51206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Vẽ 60 FPS nhưng logic chỉ chạy 6–16 lần/giây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accumulator cộng dồn dt; đủ 1000/speed ms thì mới step()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nhiều khung hình có thể dồn thành 1 bước; máy chậm không làm rắn chậm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(không phải if) để bù kịp nhiều bước khi khung hình dài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126480" y="1783080"/>
            <a:ext cx="5486400" cy="2606040"/>
          </a:xfrm>
          <a:prstGeom prst="rect">
            <a:avLst/>
          </a:prstGeom>
          <a:solidFill>
            <a:srgbClr val="0F1119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947672"/>
            <a:ext cx="5029200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mỗi khung hình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dt = clock.tick(60)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 += dt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interval = 1000 / speed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acc &gt;= interval: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acc -= interval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step()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26480" y="4846320"/>
            <a:ext cx="5486400" cy="914400"/>
          </a:xfrm>
          <a:prstGeom prst="rect">
            <a:avLst/>
          </a:prstGeom>
          <a:solidFill>
            <a:srgbClr val="232634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4956048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sao: FPS là nhịp vẽ, không phải nhịp chơi. Tách hai thứ này thì tốc độ rắn độc lập với phần cứng.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8096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RẮN SĂN MỒI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Kỹ thuật 2 — Hẹn giờ bằng deadline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F7C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KỸ THUẬT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5212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 mồi vàng: ghi deadline = now + 5000 ms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bước rắn: so now ≥ deadline là xoá mồi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 cao hay thấp, mồi vẫn sống đúng 5 giây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HUD dùng lại mốc đó: remain = deadline − now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126480" y="1783080"/>
            <a:ext cx="5486400" cy="2240280"/>
          </a:xfrm>
          <a:prstGeom prst="rect">
            <a:avLst/>
          </a:prstGeom>
          <a:solidFill>
            <a:srgbClr val="0F1119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947672"/>
            <a:ext cx="502920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 = pygame.time.get_ticks()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deadline = now + 5000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mỗi bước rắn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now &gt;= deadline: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remove_special()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1064240" cy="868680"/>
          </a:xfrm>
          <a:prstGeom prst="rect">
            <a:avLst/>
          </a:prstGeom>
          <a:solidFill>
            <a:srgbClr val="232634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001768"/>
            <a:ext cx="106984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 một mốc get_ticks() còn dùng cho HUD đếm ngược: remain = deadline − now → vẽ thanh thời gian.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8096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RẮN SĂN MỒI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Kỹ thuật 3 — Test headless &amp; tất định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F7C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KỸ THUẬT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52120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SDL_VIDEODRIVER=dummy → chạy không cần cửa sổ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random.seed cố định + tắt spawn ngẫu nhiên mồi vàng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Dựng thế cờ trực tiếp rồi assert từng luật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lặp lại được — chạy được trong CI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394960" cy="2788920"/>
          </a:xfrm>
          <a:prstGeom prst="rect">
            <a:avLst/>
          </a:prstGeom>
          <a:solidFill>
            <a:srgbClr val="0F1119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1947672"/>
            <a:ext cx="4937760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os.environ['SDL_VIDEODRIVER'] = 'dummy'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SPECIAL_SPAWN_CHANCE = 0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random.seed(7)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g.snake = deque([(4,4), (3,4), (3,5), (4,5)])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g.dir = (-1, 0)   # đâm vào thân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g.update(1000)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g.game_over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5257800"/>
            <a:ext cx="5394960" cy="777240"/>
          </a:xfrm>
          <a:prstGeom prst="rect">
            <a:avLst/>
          </a:prstGeom>
          <a:solidFill>
            <a:srgbClr val="232634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5367528"/>
            <a:ext cx="5029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7C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snake.py --selftest — 9 nhóm kiểm tra, không cần màn hình.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F7C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PYGAME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Chạy thử?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Toàn bộ mã nguồn, README và bộ tự kiểm tra nằm trong repo:</a:t>
            </a:r>
            <a:endParaRPr lang="en-US" sz="1600" dirty="0"/>
          </a:p>
        </p:txBody>
      </p:sp>
      <p:sp>
        <p:nvSpPr>
          <p:cNvPr id="5" name="Text 3">
            <a:hlinkClick r:id="rId2" tooltip=""/>
          </p:cNvPr>
          <p:cNvSpPr/>
          <p:nvPr/>
        </p:nvSpPr>
        <p:spPr>
          <a:xfrm>
            <a:off x="822960" y="29260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u="sng" dirty="0">
                <a:solidFill>
                  <a:srgbClr val="F7C94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github.com/Casluminous/snake-game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3794760"/>
            <a:ext cx="6949440" cy="1691640"/>
          </a:xfrm>
          <a:prstGeom prst="rect">
            <a:avLst/>
          </a:prstGeom>
          <a:solidFill>
            <a:srgbClr val="0F1119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3959352"/>
            <a:ext cx="6492240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pygame        # Python 3.14: pygame-ce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snake.py           # mở cửa sổ game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snake.py --selftest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Tháng 10 / 2026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529523" y="4597603"/>
            <a:ext cx="314554" cy="314554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95283" y="4597603"/>
            <a:ext cx="314554" cy="314554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61043" y="4597603"/>
            <a:ext cx="314554" cy="314554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26803" y="4597603"/>
            <a:ext cx="314554" cy="314554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26803" y="4231843"/>
            <a:ext cx="314554" cy="314554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92563" y="4231843"/>
            <a:ext cx="314554" cy="314554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358323" y="4231843"/>
            <a:ext cx="314554" cy="314554"/>
          </a:xfrm>
          <a:prstGeom prst="rect">
            <a:avLst/>
          </a:prstGeom>
          <a:solidFill>
            <a:srgbClr val="9DF2B0"/>
          </a:solidFill>
          <a:ln w="6350">
            <a:solidFill>
              <a:srgbClr val="9DF2B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22762" y="4264762"/>
            <a:ext cx="248717" cy="248717"/>
          </a:xfrm>
          <a:prstGeom prst="ellipse">
            <a:avLst/>
          </a:prstGeom>
          <a:solidFill>
            <a:srgbClr val="F05A5A"/>
          </a:solidFill>
          <a:ln w="6350">
            <a:solidFill>
              <a:srgbClr val="B23C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13571" y="4067251"/>
            <a:ext cx="277978" cy="277978"/>
          </a:xfrm>
          <a:prstGeom prst="diamond">
            <a:avLst/>
          </a:prstGeom>
          <a:solidFill>
            <a:srgbClr val="F7C948"/>
          </a:solidFill>
          <a:ln w="6350">
            <a:solidFill>
              <a:srgbClr val="C79B2D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Rắn săn mồi — Lý thuyết thuật toán &amp; kỹ thuật</dc:title>
  <dc:subject>PptxGenJS Presentation</dc:subject>
  <dc:creator>Casluminous</dc:creator>
  <cp:lastModifiedBy>Casluminous</cp:lastModifiedBy>
  <cp:revision>1</cp:revision>
  <dcterms:created xsi:type="dcterms:W3CDTF">2026-10-24T01:06:11Z</dcterms:created>
  <dcterms:modified xsi:type="dcterms:W3CDTF">2026-10-24T01:06:11Z</dcterms:modified>
</cp:coreProperties>
</file>